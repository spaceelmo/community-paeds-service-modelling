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7F92A-746A-A71E-AFC7-C0D17AA1D2F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528" cy="534208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r>
              <a:rPr lang="en-GB" sz="14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845B2-4BA1-967D-6838-A9D1585A2F1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797" y="0"/>
            <a:ext cx="3280528" cy="534208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r>
              <a:rPr lang="en-GB" sz="14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43004-00E6-6A9B-D87E-EE65C33A922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222"/>
            <a:ext cx="3280528" cy="534208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r>
              <a:rPr lang="en-GB" sz="14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84B53-CB5B-4112-ED30-9114E5E800A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797" y="10157222"/>
            <a:ext cx="3280528" cy="534208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7158427-6B57-4921-A78D-269D208FCCF5}" type="slidenum">
              <a:t>‹#›</a:t>
            </a:fld>
            <a:r>
              <a:rPr lang="en-GB" sz="14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99825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5B3A3-1A50-3EC0-5112-458F86247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60D31-27FB-5A06-8D81-E9BD62BBD88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B833E42-8DAE-3D62-19C4-DCF63E283F8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0B5CB-1984-1E69-91B8-5A0782228A3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959-F962-D940-24CE-DA92CFEB6EC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C8AC-EFFC-D1B5-64FC-72CB211B700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fld id="{D23AB167-70C1-4BB8-BADA-CB90712BFBA4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66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hangingPunct="0">
      <a:lnSpc>
        <a:spcPct val="110000"/>
      </a:lnSpc>
      <a:spcBef>
        <a:spcPts val="0"/>
      </a:spcBef>
      <a:spcAft>
        <a:spcPts val="567"/>
      </a:spcAft>
      <a:tabLst/>
      <a:defRPr lang="en-GB" sz="2000" b="0" i="0" u="none" strike="noStrike" kern="1200">
        <a:ln>
          <a:noFill/>
        </a:ln>
        <a:latin typeface="Noto Sans Regular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1EA2FE8-BA98-2EF0-77E7-944BC0FD879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C6636-2E48-7E97-1E4C-23953A4B9BB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9DE89-02AE-C687-E323-24616DE5835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84462-EB95-FB9B-0C25-02E789EBFD2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9E9DDCF-5A13-4B84-942E-1C3B53599C49}" type="slidenum">
              <a:t>1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EF895-69DB-B828-5694-CF4AB232B0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9607C-D79C-EFCB-97DB-F984B41A32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BB16A5F-CCFE-92E8-851E-AA78FA4CD96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D05DC-7468-74D5-2EA7-FD8D7452754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C5A89-C477-E28A-0CF8-40ED689BEE57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257E-339E-3738-4E6C-197CE75F266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DA24A47-4103-41BE-A26C-090500C9EDEC}" type="slidenum">
              <a:t>2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474F4-C44C-AA0C-7C9F-4122D4D89A3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C2B20-7F9B-CD88-F0C3-EE294941F09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EE4CD25-B480-79DA-C42D-09A9977EA7B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563FC-622E-FEBF-502E-5D5D235B8489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21810-81B0-EBB0-E7AD-74652798968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0994E-290A-F889-848C-0D88B1D5392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4E49F8A-FCEE-4421-96B0-E701873D9B52}" type="slidenum">
              <a:t>3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3AB78-1DFB-1B47-CF45-CB4EB2E446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DBBF4-7914-F5E4-7EC8-C644F4F4D3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CBB9463-279A-4DD2-99CC-FB609AFE7F4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543A2-642F-D885-FA2D-163A96ABD00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11682-DC3B-B1AB-307D-D9D1C519A66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DA8E6-6033-8820-1D4D-D9277904EF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BA3A899-0111-4B91-84D1-6420B235FE3F}" type="slidenum">
              <a:t>4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FCC1F-FA19-F392-D200-1B37949110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121A8-A048-C55E-EFE9-7F80CB17CD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4E59CFB-AA21-6446-4ABA-97BE2BD87C4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EF5D4-1C23-2C0C-FE26-7E6EC8DE3E39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17812-DBE3-EDCB-50DA-39166E23D3D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71F79-29EF-EEA3-5144-1F8CF80D98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9321A3-A128-49AD-B323-ECD333078D88}" type="slidenum">
              <a:t>5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D1896-6DCE-0DB4-B31F-2ABBD95647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1C5EA-BC60-EDC2-823E-CD879A2541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708893B-F9B1-4316-EDE9-EDFA45E9B9C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AD7F-8640-2F95-EAA2-8813BD2BE9B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244D4-F046-44D0-46FA-A2759738C837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28B1E-50CC-771D-E894-B58CEE40D0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71616B5-D75B-44FD-AFAE-9EE8D1D61B3C}" type="slidenum">
              <a:t>6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EEFBE-F466-A7E7-9E9F-8C31FEAA215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6781F-C669-EBB2-1CEE-0EE190F8B2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7A941D9-16C5-BCC4-7D75-BA54C872BAE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1FB80-2189-AEE0-29D9-212DCDE0190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69929-45A9-D916-CBD8-439C0A65673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B9A36-5744-5886-2D8F-20F74D734F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F39A0FE-E6DA-4A4E-800C-2329A751208E}" type="slidenum">
              <a:t>7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731F8-6761-7891-7561-9EFC79812F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C1266-7D38-3F04-9035-23AFE7341F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056ACCC-1059-4B97-03F9-3AEB13721EE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14C3A-DDF1-DE0A-2A2E-03E6FBB4A7E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CB428-6C64-F64E-5C84-295B38CF98F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1110B-02F3-ED4C-493D-CC24643F56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0891ED4-1D1D-4D19-9188-EFE8F0EAB44E}" type="slidenum">
              <a:t>8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AC3E1-7C17-65D0-1C92-D8833FADD4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5FB59-E43B-5A37-FF69-9118659E73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29CDA1A-03C7-CC3F-ABA5-93EB949110B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41466-6472-1C8A-AD4C-181CE7E3DE9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E4C4D-AE33-A9E6-F5CD-DB35A21BFA1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3529D-71AB-5A34-EFF1-3B0E911A400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C0A7E55-F469-4C4D-824A-D22D0E230EFC}" type="slidenum">
              <a:t>9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A2CCE-C4CE-2CFF-ABAE-BE8B12D4A2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680D5-7B93-F6B3-7816-56CFF2FA37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7A65319-313F-089D-B640-D9CA441FF7C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5A129-3343-D9FC-A38E-9DB284AF673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03F91-3F7F-5CD0-B626-4EF695D97FF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385B9-82AE-AC09-5B36-606737BEB3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4A1AE6-D2E0-41D2-9C1E-028C56FF1512}" type="slidenum">
              <a:t>10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25895-FBD1-7EE1-6CD6-880018E684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D8231-7FDB-F6AD-0434-987499FCD5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43DB0CE-CC5F-A1E5-93C9-06AD12AF28F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96489-AA80-D7E8-F195-A9297FC41F9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lIns="0" tIns="0" rIns="0" bIns="0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53537-9CA3-68DE-F996-0E0545C0080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52F0E-AF0A-BB02-06A3-F2487A40AB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FD1F78E-DE7D-41E9-9334-9E87E105C3E4}" type="slidenum">
              <a:t>11</a:t>
            </a:fld>
            <a:r>
              <a:rPr lang="en-GB"/>
              <a:t> </a:t>
            </a:r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D0D6F-9260-F07B-EEFE-0924413B4AC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CFE7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7364F-4C1B-F289-9A53-641B418A44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D474-A8E3-473A-8982-7856B7F1D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9450A-CE0B-598F-93DF-D0E364021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CD8F-3ADD-802E-E069-93914EFA0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2FEE-6316-AA4F-7806-EF646468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482D-2C17-6044-1E12-44AF2B5B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596988-7DEA-4CB5-B1A3-1691D1364998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452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90B2-F392-18E6-13CB-FD4E98FB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EB80-82F3-F9B6-86C3-9F0F9CC1C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C8B-B8CB-4081-7CC2-D921D3A3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D29CA-A528-9413-B69C-3F44015F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B4D1F-6C79-AF80-BE2E-AF7857F1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C5559A-77AF-4E33-8FD3-1EF3D4C8C5AA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787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DE96-740D-F01F-8EA6-651641F1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A774F-A3FC-8EB3-E74B-DDD369560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CBBD-8B23-DBD3-3D25-AC3D171C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FED61-06E3-A0CD-C658-7BAE979B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017DD-89BF-E591-98F1-9C95BC01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E5B0EB-19A2-4806-8A24-DC0F29AF90B5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5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02DB-471B-35D2-13A6-36C4E960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31FD1-E869-FDB3-C2C2-990EA0356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263" y="3870325"/>
            <a:ext cx="4424362" cy="1169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1F01A-6C25-D0FE-6159-0A2439B89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6025" y="3870325"/>
            <a:ext cx="4424363" cy="1169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90643-79E0-5B76-53D9-68BDFD7C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29388-31E5-95C5-C141-182E1A0F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E3F1-3897-58FC-C740-AA50301F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885354A-013F-4B70-A240-0586F4F1C3FE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799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5356-9268-3997-1410-C483A1E2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F4E7-4C18-6807-14E3-5C344C03C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D4695-0030-1C30-A965-F77F89606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4965-C80F-025C-E671-ED448CFCF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6FBD4-07CF-838C-E9BB-FC1F053AC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A67A8-65F6-ECBA-C65B-87566988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5F570-1B36-8474-543F-CA32A005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F03B5-3D0A-7FB2-F777-0B395788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DF8051-4E10-4081-868B-6942E64F3B9C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046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4823-C928-82C8-6EAF-753D12C2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4A24C-85F5-36C2-B2C7-50574545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EEF1A-6F60-8745-FFB4-1FEE2A69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943E6-A8FF-1F8C-F25C-62F9F43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A4F3BE-C3E5-4005-9437-1842A1EF67B5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818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786AF-7F14-498F-0BBC-CC3614BA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DB8489-2F42-B149-ED1B-F8DE01C5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28D4C-B6BB-AB4E-F160-346464F8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86DC21-A8AF-4B07-937D-483BE38D5B67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98468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4582-1173-0BD9-3762-1F2185BF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F0D6-7C44-6AD3-12E1-F768CE23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821FA-3A30-4F92-EAEC-4D0A03A7C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F78ED-6867-CE93-71BF-EF825705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A4B9-881B-5F44-2F61-EAE9515E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00964-ADC3-9A43-444B-5BD427A3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E0DE1A-FA48-4D7C-980D-560A323C855B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456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CA74-4787-71E7-D3F7-E0F5CCB5A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5B5195-1545-FC67-3ADC-27F12BB2A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C9D9A-435F-7707-ECD2-4D5B58E17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7EB7B-1A5A-5DA6-8189-80A45FA4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453FD-2DFC-37C2-95A8-2948180A8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0CB21-6074-99B0-DAEB-4A89CF4B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1383E6-E815-4144-91A9-8843BA1D36D7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359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D7B2-A912-6373-3126-AB97DB02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67165-81C9-8EA5-5F07-8B341530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2B37D-ACB8-9A33-B648-CA2A7842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5C55D-46F4-05D1-BA81-566BF6D0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17C6-BB28-A6EC-A262-1196388C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0F8741-EB43-4C51-9E79-EA8701F6A4D2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30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9EA02C-84C7-E3F2-C65A-DA122F8B1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00900" y="269875"/>
            <a:ext cx="2249488" cy="4770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6DADB-330F-1311-6E08-B7D257811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9263" y="269875"/>
            <a:ext cx="6599237" cy="4770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4A3E-8839-E85B-DF67-4B959E30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529B-FA52-AF4D-E9D1-F79146E6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D9046-F99F-8C7B-CEC6-481CDBF9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172F6A-C2FB-4C54-9F1C-D81CD8C0DF68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1361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6FFD-43ED-0CC7-CF44-8B238EA28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16E3E-6B1D-21B2-7AB0-CFE1B0DE8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D700-A584-EEC1-D8DC-ECDEE5CB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3763-40DB-A8D1-E1E0-209BEC56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340BD-A85F-A301-A475-9724F93A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F3B7E4-68D4-40CE-9796-B474DE1EFFB0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183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3703-7472-E79C-1E82-45CEA5EE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59D6-EF65-B9C2-3BE1-9C056531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BD3C0-8ED0-21B2-BE9E-7C4ADC5D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CB4F2-C4B6-172E-4F7A-5FB622E7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FC81B-F556-DB3A-0D14-68573D24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59CD02-CC23-497A-9048-B8D77398E652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155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B6DD-BA42-C89C-8FF4-3BA9D2F2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0D820-3A21-3500-30BA-BDA93351D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53411-A186-68CA-AAC0-70BB07CA5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C9EC7-C54E-5A0E-97E4-15210045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3F2DF-59D0-0E67-5769-F4B49C72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A79504-9AC8-49F2-90E8-066FB56BB39E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560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8AF8-46F6-F528-1118-D8162225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9A15-14B3-4BB8-DE83-6D77893B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750" y="1439863"/>
            <a:ext cx="4422775" cy="3509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F3B88-71BF-9DED-2F47-5FCAF5063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439863"/>
            <a:ext cx="4424363" cy="3509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C6D48-9104-5BC3-570E-ED94CAC6B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053AE-33BB-20D9-C170-67522510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CAB61-B6D9-E58D-6C64-889917FB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7675B2-F0F0-40B3-87B0-C0CF5CDD51E8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7304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893E-E232-E6FC-6E96-6B414A72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215C8-1729-151F-BF41-D816EC1DB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757BC-0AA1-F336-D6C6-293B8FA3F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62BC9-903D-E0EA-31DD-B723B7B6C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47250-7EBE-D027-B6C1-6F1E7CF28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07CA1-4222-5699-D663-70E916791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AF33B-D1BB-6B8F-0692-A14D59BF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FDD60-4CF1-325D-CC9D-8101CBE5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767777-6BE4-4784-8CD7-0AA7D010ACF0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9047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7E52-7CDC-D842-4CB6-30B799BA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411B6-6DA8-E8C6-2AA1-1CA01455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C7DE2-8EB5-0315-F422-1B0C7C67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C0F27-2F1C-26CC-4874-EF80E019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DB2530-1745-4DB6-B708-9531802C5D5C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46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48150-E4BE-3359-569C-911CCECB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9F8FA-53C5-60A1-05F8-EA00EC54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AA9B5-9D81-6485-4D56-329140DF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5918B9-D5A4-47D7-BFB6-28DD60D31753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028276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0D96-535C-869C-76C1-DFE96AD8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C1656-96F2-CEF7-7074-10549BCD9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9EEAB-5197-0710-FD94-E2B6D3D20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06C0A-EDE2-605A-EC9F-6C801C51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2F59E-7A93-8963-35BB-B3925A14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CEF43-6666-3DFF-085F-7D7955EF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6922FF-CB3F-4DE4-9F24-52ABC6E6AC02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2722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2236-EA17-5A12-8E05-9B81A560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53320-C6D4-D784-E6B0-CFF5CB3CC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2C853-2A0E-C0F3-8D6C-8A1BCC6AE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EC97B-7D04-3AB2-0EB0-8C8E134C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62D9A-06DF-9451-AF9F-50CC4EB1F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55740-E34C-756F-9D1C-D0B36933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1A7EDA-5EC0-466A-B5BB-F42946E7BFDB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61268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92D6-4EE3-2639-410E-6AD392D7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97C58-DDA3-9837-AC06-D4BAE3575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1452B-EB23-FDAB-64CB-878B94DF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D56F-DC77-70E8-00B0-B6591006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B1E6A-7556-4C47-0BD2-08EFCE3B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E32686-288F-4EC7-843E-220DD4B4C9E1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18990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0F099A-EEED-7416-A08F-E743E92AD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89800" y="90488"/>
            <a:ext cx="2249488" cy="4859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DB838-10AE-AAFD-5967-C5085193C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9750" y="90488"/>
            <a:ext cx="6597650" cy="4859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5DF83-AF68-7348-4C2D-DDF27E5C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DED59-B871-9C1A-945A-35B8456E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F71B3-93B6-F5D2-9A37-54E63A89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7CE2A5-1775-459D-8785-7299F07FC71A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9418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DE9ED-CCAA-6BD3-3958-DCCCA42CB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2F597-E766-5611-FBAC-3572D8E2D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56534-CECE-F818-852B-A0E690B0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DA5FB-0DBE-886D-2CC6-DEA58C8D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F0FBC-E9E3-4211-FF38-9799CE54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2120CD-80F6-4980-81D9-8B0024D423D2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5413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CE63-CA8D-894F-CF82-A9D30C97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7572-AE1B-195B-F550-0EE0C4B79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B5E10-D36B-A099-EC5A-99202C77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0633F-0E1D-D935-16E0-8D9AFB56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7508-CC4E-1E50-3DFD-25C2C48D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CBABCC-02A5-453D-A25F-8E1F1D714CC4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3201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0DDC-0DEF-28CA-D380-7D9F7B8E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21D16-8E36-E117-D733-EAB05A1DA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0B683-35DF-2812-DF47-B8A967D1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95787-C184-7AFA-7285-8E13CC8A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8E910-C27A-E9C2-6633-391A3EEA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FFDBA2-FA69-49B3-BD72-F4A3F7DCE0D9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74613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1FD3-3FF0-63BA-B996-F51CDB94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F2FA9-C7EB-D3AE-8108-E81758DBB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750" y="1439863"/>
            <a:ext cx="4422775" cy="4049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5264C-B85B-B0C8-0894-3D4448502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439863"/>
            <a:ext cx="4424363" cy="4049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CDAF7-C89C-63A1-909F-5871CC09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BB6F-AB55-3818-E727-6B0645CE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9611A-0353-1FF5-CDBC-96A52DC0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E1E5EC-781D-414A-B2F9-75DE7F2F648B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3257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FCB3-AA2E-1629-17E0-D37D7E76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A9685-3A80-FA0B-1174-164F98D49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C89A-219C-7FA1-AC1A-8A0D8AD38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3A821-3071-DCE3-A0A1-C9AC4E9F3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48708-883C-C86A-52CA-FFE1ED3C0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55D64-CE09-A1C2-2B14-88B42EB0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C955E-7A1F-2BBD-3A01-4F6EA3CC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FC242-98FF-5321-8186-064322CB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27B0CE-3971-4A16-8808-42DCA871856B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87645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EC0B-FAE7-E7AC-0190-63F36B76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A6CEE-621B-A0C8-7695-E1685D81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71EF9-E9B0-35FE-508C-B8447E63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29225-2616-7362-B2E5-C9C2A0E5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58E46D-3217-4C58-AA80-69982EE43139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96104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92A6C-F3F3-16B6-4816-66D2D1F8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615A7-AAD7-1437-9636-C6318DF1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E836B-8BDD-7118-12FA-CBDDC012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C64FC8-3D62-494F-9F15-BFA23D5FB8AB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3016027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C4CA-EDF7-A975-EE40-E61A5604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6B277-B805-8311-03D2-86B2A6C43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97C3C-A26B-ADFE-BFFB-84D8BC592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7507E-8864-72E5-3D8F-B7F3BB74A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ED2A9-A3FA-83CD-2108-48B83CAF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3A104-37D0-4346-B027-F241D6F9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DA3358-43BB-41CE-A62F-2A48831FD6A2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5246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2ED6-AFED-1C81-AFDF-B1BC9E04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6DE44-F9E2-524F-EC2F-1E8800385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2B873-3D7E-C0A4-14DC-16D2A4AF1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75994-5CE7-A7C1-6776-54987E90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84707-CACE-C317-3D98-05DEB499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C7F18-AE9D-52FD-DDD4-E215A8C0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216509-AD88-460F-8507-E5508639740D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3201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09D4-FC49-76DF-6D34-F9FD1381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82C37-BD87-C5DC-B032-951CFE6B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8D98A-F40F-300B-9179-03C8B8C5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F538-185F-3B1E-B657-0F2F69D0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58110-08EC-A9D3-3324-493DF59C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1EB48E-86DF-4887-BCA9-BC0717BA29F6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3044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AAAC7-11FA-D57C-087F-CEC842560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89800" y="269875"/>
            <a:ext cx="2249488" cy="5219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48657-19C0-22FE-D406-5CAA6120F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9750" y="269875"/>
            <a:ext cx="6597650" cy="5219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58AF2-BBD7-B045-2DEB-B920E46C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2AC03-C5C6-E58D-3E5A-9A0EBA54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53138-3DE0-474A-50DB-F7D98566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B0454B3-886A-42A5-9FAC-CE1A7572E389}" type="slidenum">
              <a:t>‹#›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068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85283E-526E-D19C-EE19-9E75C2E39E7D}"/>
              </a:ext>
            </a:extLst>
          </p:cNvPr>
          <p:cNvSpPr/>
          <p:nvPr/>
        </p:nvSpPr>
        <p:spPr>
          <a:xfrm>
            <a:off x="0" y="3780000"/>
            <a:ext cx="10080000" cy="189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dist="36000" dir="16200000" algn="tl">
              <a:srgbClr val="F49100"/>
            </a:outerShdw>
          </a:effectLst>
        </p:spPr>
        <p:txBody>
          <a:bodyPr wrap="none" lIns="36000" tIns="36000" rIns="36000" bIns="36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A6BE1-2D2F-6EC2-FDB8-5F068DA099F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0000" y="5130000"/>
            <a:ext cx="2340000" cy="450000"/>
          </a:xfrm>
          <a:prstGeom prst="rect">
            <a:avLst/>
          </a:prstGeom>
          <a:noFill/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2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F9EEB-4926-659F-2439-397AD42B498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2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B2B25-5FDB-E942-B200-E0B1BBACD2E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2400" kern="1200">
                <a:solidFill>
                  <a:srgbClr val="DBF5F9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fld id="{38D65F49-644F-43F8-924F-FAB8A3BEA05A}" type="slidenum">
              <a:t>‹#›</a:t>
            </a:fld>
            <a:r>
              <a:rPr lang="en-GB"/>
              <a:t> 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DB7C200A-17BD-6BE0-F327-5D86ABB63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000" y="270000"/>
            <a:ext cx="9000000" cy="324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 anchorCtr="0"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AD452E-CF44-F247-6BD5-81E1615D93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000" y="3870000"/>
            <a:ext cx="9000000" cy="11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indent="0" algn="l" hangingPunct="0">
        <a:lnSpc>
          <a:spcPct val="100000"/>
        </a:lnSpc>
        <a:spcBef>
          <a:spcPts val="0"/>
        </a:spcBef>
        <a:spcAft>
          <a:spcPts val="0"/>
        </a:spcAft>
        <a:tabLst/>
        <a:defRPr lang="en-GB" sz="6000" b="0" i="0" u="none" strike="noStrike" kern="1200" spc="0" baseline="0">
          <a:ln>
            <a:noFill/>
          </a:ln>
          <a:solidFill>
            <a:srgbClr val="04617B"/>
          </a:solidFill>
          <a:latin typeface="Source Sans Pro Light" pitchFamily="2"/>
        </a:defRPr>
      </a:lvl1pPr>
    </p:titleStyle>
    <p:bodyStyle>
      <a:lvl1pPr marL="0" marR="0" indent="0" hangingPunct="0">
        <a:spcBef>
          <a:spcPts val="0"/>
        </a:spcBef>
        <a:spcAft>
          <a:spcPts val="924"/>
        </a:spcAft>
        <a:tabLst/>
        <a:defRPr lang="en-GB" sz="2100" b="0" i="0" u="none" strike="noStrike" kern="1200">
          <a:ln>
            <a:noFill/>
          </a:ln>
          <a:solidFill>
            <a:srgbClr val="DBF5F9"/>
          </a:solidFill>
          <a:latin typeface="Source Sans Pro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5C8AD3-21CE-FD1D-4F8D-7D4C58314A4A}"/>
              </a:ext>
            </a:extLst>
          </p:cNvPr>
          <p:cNvSpPr/>
          <p:nvPr/>
        </p:nvSpPr>
        <p:spPr>
          <a:xfrm flipV="1">
            <a:off x="0" y="0"/>
            <a:ext cx="10080000" cy="108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dist="10800" dir="5400000" algn="tl">
              <a:srgbClr val="F49100"/>
            </a:outerShdw>
          </a:effectLst>
        </p:spPr>
        <p:txBody>
          <a:bodyPr wrap="none" lIns="36000" tIns="36000" rIns="36000" bIns="36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876B899-DB9A-9643-CFE1-8898F23A8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9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 anchorCtr="0">
            <a:normAutofit/>
          </a:bodyPr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E9C33-7D8A-D08E-2F4D-F9BF308FA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0000" y="1440000"/>
            <a:ext cx="9000000" cy="351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D3D92-3D8E-ABF5-6071-F600AB6D67D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2400" kern="1200">
                <a:solidFill>
                  <a:srgbClr val="484848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02BE9-B6BA-B19D-C95E-B68BBD1C645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2400" kern="1200">
                <a:solidFill>
                  <a:srgbClr val="484848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9A8E3-ABF7-64B9-3E80-196E7DD347D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2400" kern="1200">
                <a:solidFill>
                  <a:srgbClr val="484848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fld id="{D5364A00-D940-437A-944C-4BA69ED8F82E}" type="slidenum">
              <a:t>‹#›</a:t>
            </a:fld>
            <a:r>
              <a:rPr lang="en-GB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hangingPunct="0">
        <a:tabLst/>
        <a:defRPr lang="en-GB" sz="4500" b="0" i="0" u="none" strike="noStrike" kern="1200">
          <a:ln>
            <a:noFill/>
          </a:ln>
          <a:solidFill>
            <a:srgbClr val="FFFFFF"/>
          </a:solidFill>
          <a:latin typeface="Source Sans Pro Light" pitchFamily="2"/>
        </a:defRPr>
      </a:lvl1pPr>
    </p:titleStyle>
    <p:bodyStyle>
      <a:lvl1pPr marL="0" marR="0" indent="0" hangingPunct="0">
        <a:spcBef>
          <a:spcPts val="0"/>
        </a:spcBef>
        <a:spcAft>
          <a:spcPts val="1054"/>
        </a:spcAft>
        <a:tabLst/>
        <a:defRPr lang="en-GB" sz="2400" b="0" i="0" u="none" strike="noStrike" kern="1200">
          <a:ln>
            <a:noFill/>
          </a:ln>
          <a:latin typeface="Source Sans Pro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33B87A3-B08B-6C16-03C3-130D049127C5}"/>
              </a:ext>
            </a:extLst>
          </p:cNvPr>
          <p:cNvSpPr/>
          <p:nvPr/>
        </p:nvSpPr>
        <p:spPr>
          <a:xfrm flipV="1">
            <a:off x="0" y="0"/>
            <a:ext cx="10080000" cy="18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dist="10800" dir="5400000" algn="tl">
              <a:srgbClr val="F49100"/>
            </a:outerShdw>
          </a:effectLst>
        </p:spPr>
        <p:txBody>
          <a:bodyPr wrap="none" lIns="36000" tIns="36000" rIns="36000" bIns="36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93116B6-FF5C-082F-4C00-6B4D17941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rmAutofit/>
          </a:bodyPr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3BFC8-BEFB-71B8-27A5-AC3644059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CA5AA-E6C6-E0AB-049F-7856ED8E48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2400" kern="1200">
                <a:solidFill>
                  <a:srgbClr val="484848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395E5-B559-FAC4-2F4C-939EBB6492D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0" y="5119200"/>
            <a:ext cx="3240000" cy="45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2400" kern="1200">
                <a:solidFill>
                  <a:srgbClr val="484848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78DDF-957E-F08B-60B7-4F5F4F6E53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650000" y="5130000"/>
            <a:ext cx="1890000" cy="45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2400" kern="1200">
                <a:solidFill>
                  <a:srgbClr val="484848"/>
                </a:solidFill>
                <a:latin typeface="Source Sans Pro" pitchFamily="2"/>
                <a:ea typeface="Noto Sans CJK JP:palt" pitchFamily="34"/>
                <a:cs typeface="Noto Sans Regular" pitchFamily="2"/>
              </a:defRPr>
            </a:lvl1pPr>
          </a:lstStyle>
          <a:p>
            <a:pPr lvl="0"/>
            <a:fld id="{52C06D81-816A-4DA3-8DFD-70C3C4595F06}" type="slidenum">
              <a:t>‹#›</a:t>
            </a:fld>
            <a:r>
              <a:rPr lang="en-GB"/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ED4372E-8810-5D8A-7C44-7418B80C1B41}"/>
              </a:ext>
            </a:extLst>
          </p:cNvPr>
          <p:cNvSpPr/>
          <p:nvPr/>
        </p:nvSpPr>
        <p:spPr>
          <a:xfrm>
            <a:off x="0" y="5580000"/>
            <a:ext cx="10080000" cy="9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dist="10800" dir="16200000" algn="tl">
              <a:srgbClr val="F49100"/>
            </a:outerShdw>
          </a:effectLst>
        </p:spPr>
        <p:txBody>
          <a:bodyPr wrap="none" lIns="36000" tIns="36000" rIns="36000" bIns="36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hangingPunct="0">
        <a:tabLst/>
        <a:defRPr lang="en-GB" sz="4500" b="0" i="0" u="none" strike="noStrike" kern="1200">
          <a:ln>
            <a:noFill/>
          </a:ln>
          <a:solidFill>
            <a:srgbClr val="04617B"/>
          </a:solidFill>
          <a:latin typeface="Source Sans Pro Light" pitchFamily="2"/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GB" sz="2400" b="0" i="0" u="none" strike="noStrike" kern="1200">
          <a:ln>
            <a:noFill/>
          </a:ln>
          <a:latin typeface="Source Sans Pro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comm-paeds-service-modelling2025.streamlit.app/" TargetMode="External"/><Relationship Id="rId4" Type="http://schemas.openxmlformats.org/officeDocument/2006/relationships/hyperlink" Target="https://github.com/SpaceElmo/Community-Paeds-Service-modell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tsdodigital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AB75-C9F9-657C-8179-BEAE45C149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0000" y="270000"/>
            <a:ext cx="6930000" cy="3240000"/>
          </a:xfrm>
        </p:spPr>
        <p:txBody>
          <a:bodyPr vert="horz"/>
          <a:lstStyle/>
          <a:p>
            <a:pPr lvl="0" rtl="0"/>
            <a:r>
              <a:rPr lang="en-GB" dirty="0"/>
              <a:t>Numerical Simulation</a:t>
            </a:r>
            <a:br>
              <a:rPr lang="en-GB" dirty="0"/>
            </a:br>
            <a:r>
              <a:rPr lang="en-GB" dirty="0"/>
              <a:t>of a Community </a:t>
            </a:r>
            <a:br>
              <a:rPr lang="en-GB" dirty="0"/>
            </a:br>
            <a:r>
              <a:rPr lang="en-GB" dirty="0"/>
              <a:t>Paediatric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3AC5D-429C-8FE0-FC4A-74713B6D99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0000" y="3870000"/>
            <a:ext cx="9000000" cy="1938600"/>
          </a:xfrm>
        </p:spPr>
        <p:txBody>
          <a:bodyPr vert="horz" wrap="none" anchor="t" anchorCtr="0" compatLnSpc="0">
            <a:spAutoFit/>
          </a:bodyPr>
          <a:lstStyle/>
          <a:p>
            <a:pPr lvl="0" algn="l" rtl="0">
              <a:spcAft>
                <a:spcPts val="0"/>
              </a:spcAft>
            </a:pPr>
            <a:r>
              <a:rPr lang="en-GB" sz="2700" b="1" dirty="0"/>
              <a:t>Dr Raman Sharma</a:t>
            </a:r>
          </a:p>
          <a:p>
            <a:pPr lvl="0" algn="l" rtl="0">
              <a:spcAft>
                <a:spcPts val="0"/>
              </a:spcAft>
            </a:pPr>
            <a:r>
              <a:rPr lang="en-GB" sz="2700" b="1"/>
              <a:t>Community Paediatric Consultant</a:t>
            </a:r>
          </a:p>
          <a:p>
            <a:pPr lvl="0" algn="l" rtl="0">
              <a:spcAft>
                <a:spcPts val="0"/>
              </a:spcAft>
            </a:pPr>
            <a:r>
              <a:rPr lang="en-GB" sz="2700" b="1" dirty="0"/>
              <a:t>30/09/2025</a:t>
            </a:r>
          </a:p>
          <a:p>
            <a:pPr lvl="0" algn="l" rtl="0">
              <a:spcAft>
                <a:spcPts val="0"/>
              </a:spcAft>
            </a:pPr>
            <a:endParaRPr lang="en-GB" sz="27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82965-7337-8D07-0E7C-A1D7B196410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52719" y="115200"/>
            <a:ext cx="2523240" cy="31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1D6B-9CEC-1BCC-DE8E-9EF01A32A6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2920" y="90720"/>
            <a:ext cx="9071640" cy="946800"/>
          </a:xfrm>
        </p:spPr>
        <p:txBody>
          <a:bodyPr vert="horz"/>
          <a:lstStyle/>
          <a:p>
            <a:pPr lvl="0" rtl="0"/>
            <a:r>
              <a:rPr lang="en-GB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7DF8-66FE-75C2-B077-775E89EA54A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16220" y="1462860"/>
            <a:ext cx="4844880" cy="3497759"/>
          </a:xfrm>
        </p:spPr>
        <p:txBody>
          <a:bodyPr vert="horz"/>
          <a:lstStyle/>
          <a:p>
            <a:pPr lvl="0" rtl="0">
              <a:buClr>
                <a:srgbClr val="009EDA"/>
              </a:buClr>
              <a:buSzPct val="45000"/>
              <a:buFont typeface="OpenSymbol"/>
              <a:buChar char="●"/>
            </a:pPr>
            <a:r>
              <a:rPr lang="en-GB" dirty="0"/>
              <a:t>Referral rates are increasing</a:t>
            </a:r>
          </a:p>
          <a:p>
            <a:pPr lvl="0" rtl="0">
              <a:buClr>
                <a:srgbClr val="009EDA"/>
              </a:buClr>
              <a:buSzPct val="45000"/>
              <a:buFont typeface="OpenSymbol"/>
              <a:buChar char="●"/>
            </a:pPr>
            <a:r>
              <a:rPr lang="en-GB" dirty="0"/>
              <a:t>Wait times are increasing</a:t>
            </a:r>
          </a:p>
          <a:p>
            <a:pPr lvl="0" rtl="0">
              <a:buClr>
                <a:srgbClr val="009EDA"/>
              </a:buClr>
              <a:buSzPct val="45000"/>
              <a:buFont typeface="OpenSymbol"/>
              <a:buChar char="●"/>
            </a:pPr>
            <a:r>
              <a:rPr lang="en-GB" dirty="0"/>
              <a:t>Why?</a:t>
            </a:r>
          </a:p>
          <a:p>
            <a:pPr lvl="0" rtl="0">
              <a:buClr>
                <a:srgbClr val="009EDA"/>
              </a:buClr>
              <a:buSzPct val="45000"/>
              <a:buFont typeface="OpenSymbol"/>
              <a:buChar char="●"/>
            </a:pPr>
            <a:r>
              <a:rPr lang="en-GB" dirty="0"/>
              <a:t>Aim – Use Python to create a model that outputs waiting time under different input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8E7F8-BB98-56CC-D7DC-26680C721D3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000" y="1274760"/>
            <a:ext cx="4708800" cy="322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E2F7FDC-4BFD-773F-1347-FBDE400E2E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68360" y="0"/>
            <a:ext cx="9791640" cy="1429559"/>
          </a:xfrm>
        </p:spPr>
        <p:txBody>
          <a:bodyPr vert="horz" anchor="ctr"/>
          <a:lstStyle/>
          <a:p>
            <a:pPr lvl="0" algn="ctr" rtl="0"/>
            <a:r>
              <a:rPr lang="en-GB" sz="4000" b="1">
                <a:solidFill>
                  <a:srgbClr val="355269"/>
                </a:solidFill>
                <a:latin typeface="Source Sans Pro Black" pitchFamily="2"/>
              </a:rPr>
              <a:t>What are the dependencies?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31FB6-EC41-FA4A-CC91-B66C17F4B277}"/>
              </a:ext>
            </a:extLst>
          </p:cNvPr>
          <p:cNvSpPr txBox="1"/>
          <p:nvPr/>
        </p:nvSpPr>
        <p:spPr>
          <a:xfrm>
            <a:off x="900000" y="1080000"/>
            <a:ext cx="3420000" cy="5724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800" b="1" i="0" u="none" strike="noStrike" kern="1200">
                <a:ln>
                  <a:noFill/>
                </a:ln>
                <a:solidFill>
                  <a:srgbClr val="FF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5ACBB-3C59-FF57-CD71-96A61D0EB7CB}"/>
              </a:ext>
            </a:extLst>
          </p:cNvPr>
          <p:cNvSpPr txBox="1"/>
          <p:nvPr/>
        </p:nvSpPr>
        <p:spPr>
          <a:xfrm>
            <a:off x="6660000" y="1080000"/>
            <a:ext cx="3420000" cy="5724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800" b="1" i="0" u="none" strike="noStrike" kern="1200">
                <a:ln>
                  <a:noFill/>
                </a:ln>
                <a:solidFill>
                  <a:srgbClr val="3465A4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CAPACITY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029D8-AD7F-BACA-5C2F-88FA6B908F68}"/>
              </a:ext>
            </a:extLst>
          </p:cNvPr>
          <p:cNvSpPr txBox="1"/>
          <p:nvPr/>
        </p:nvSpPr>
        <p:spPr>
          <a:xfrm>
            <a:off x="180000" y="1661399"/>
            <a:ext cx="5580000" cy="858599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FF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Number of Referrals = New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292DE-273B-FB08-2E32-E86FACC5B76A}"/>
              </a:ext>
            </a:extLst>
          </p:cNvPr>
          <p:cNvSpPr txBox="1"/>
          <p:nvPr/>
        </p:nvSpPr>
        <p:spPr>
          <a:xfrm>
            <a:off x="180000" y="2700000"/>
            <a:ext cx="5580000" cy="858599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FF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Patient age distribution+Diagnosis Distribution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19A14E1-C0E3-FD49-0813-9FE1E256DCA9}"/>
              </a:ext>
            </a:extLst>
          </p:cNvPr>
          <p:cNvSpPr/>
          <p:nvPr/>
        </p:nvSpPr>
        <p:spPr>
          <a:xfrm rot="10800000">
            <a:off x="2160360" y="3600360"/>
            <a:ext cx="719640" cy="94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0" h="2615">
                <a:moveTo>
                  <a:pt x="2000" y="1193"/>
                </a:moveTo>
                <a:cubicBezTo>
                  <a:pt x="1981" y="1266"/>
                  <a:pt x="1532" y="1242"/>
                  <a:pt x="1516" y="1242"/>
                </a:cubicBezTo>
                <a:cubicBezTo>
                  <a:pt x="1515" y="1242"/>
                  <a:pt x="1587" y="1248"/>
                  <a:pt x="1511" y="1242"/>
                </a:cubicBezTo>
                <a:cubicBezTo>
                  <a:pt x="1447" y="1390"/>
                  <a:pt x="1511" y="1722"/>
                  <a:pt x="1532" y="1880"/>
                </a:cubicBezTo>
                <a:cubicBezTo>
                  <a:pt x="1576" y="2267"/>
                  <a:pt x="1550" y="2592"/>
                  <a:pt x="1451" y="2615"/>
                </a:cubicBezTo>
                <a:cubicBezTo>
                  <a:pt x="1259" y="2589"/>
                  <a:pt x="1024" y="2194"/>
                  <a:pt x="936" y="2191"/>
                </a:cubicBezTo>
                <a:cubicBezTo>
                  <a:pt x="868" y="2184"/>
                  <a:pt x="604" y="2599"/>
                  <a:pt x="450" y="2606"/>
                </a:cubicBezTo>
                <a:cubicBezTo>
                  <a:pt x="214" y="2599"/>
                  <a:pt x="355" y="2214"/>
                  <a:pt x="429" y="1928"/>
                </a:cubicBezTo>
                <a:cubicBezTo>
                  <a:pt x="503" y="1664"/>
                  <a:pt x="584" y="1370"/>
                  <a:pt x="503" y="1272"/>
                </a:cubicBezTo>
                <a:cubicBezTo>
                  <a:pt x="489" y="1259"/>
                  <a:pt x="19" y="1312"/>
                  <a:pt x="0" y="1228"/>
                </a:cubicBezTo>
                <a:cubicBezTo>
                  <a:pt x="-10" y="985"/>
                  <a:pt x="716" y="3"/>
                  <a:pt x="973" y="0"/>
                </a:cubicBezTo>
                <a:cubicBezTo>
                  <a:pt x="1153" y="-2"/>
                  <a:pt x="1905" y="978"/>
                  <a:pt x="2000" y="1193"/>
                </a:cubicBezTo>
                <a:close/>
              </a:path>
            </a:pathLst>
          </a:custGeom>
          <a:solidFill>
            <a:srgbClr val="00B0F0"/>
          </a:solidFill>
          <a:ln w="38160" cap="flat">
            <a:solidFill>
              <a:srgbClr val="FF4000"/>
            </a:solidFill>
            <a:prstDash val="solid"/>
          </a:ln>
          <a:effectLst>
            <a:outerShdw dist="38160" dir="5400000" algn="tl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anchor="t" anchorCtr="1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692442-5062-68A7-A34A-3919191B8FF7}"/>
              </a:ext>
            </a:extLst>
          </p:cNvPr>
          <p:cNvSpPr txBox="1"/>
          <p:nvPr/>
        </p:nvSpPr>
        <p:spPr>
          <a:xfrm>
            <a:off x="180000" y="4541400"/>
            <a:ext cx="5580000" cy="858599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FF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Lifetime follow up burden per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9A463-8210-7135-7213-3FE0745D4D91}"/>
              </a:ext>
            </a:extLst>
          </p:cNvPr>
          <p:cNvSpPr txBox="1"/>
          <p:nvPr/>
        </p:nvSpPr>
        <p:spPr>
          <a:xfrm>
            <a:off x="6300000" y="1620000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3465A4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Number of Staff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6BC8F-C613-8A82-9A5E-7C159DB04077}"/>
              </a:ext>
            </a:extLst>
          </p:cNvPr>
          <p:cNvSpPr txBox="1"/>
          <p:nvPr/>
        </p:nvSpPr>
        <p:spPr>
          <a:xfrm>
            <a:off x="6300000" y="2340000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3465A4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Number of clinics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139DE-7724-5E72-E47C-869E8C74053D}"/>
              </a:ext>
            </a:extLst>
          </p:cNvPr>
          <p:cNvSpPr txBox="1"/>
          <p:nvPr/>
        </p:nvSpPr>
        <p:spPr>
          <a:xfrm>
            <a:off x="6300000" y="306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3465A4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New/F/U ratio in clinics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91B25-A254-D050-0BCD-61AE62CCB173}"/>
              </a:ext>
            </a:extLst>
          </p:cNvPr>
          <p:cNvSpPr txBox="1"/>
          <p:nvPr/>
        </p:nvSpPr>
        <p:spPr>
          <a:xfrm>
            <a:off x="6300000" y="396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1" i="0" u="none" strike="noStrike" kern="1200">
                <a:ln>
                  <a:noFill/>
                </a:ln>
                <a:solidFill>
                  <a:srgbClr val="3465A4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DNA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0E9FC0C-B29D-36CF-7C60-05F42D1ED2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0000" y="270000"/>
            <a:ext cx="9000000" cy="810000"/>
          </a:xfrm>
        </p:spPr>
        <p:txBody>
          <a:bodyPr vert="horz" anchor="ctr"/>
          <a:lstStyle/>
          <a:p>
            <a:pPr lvl="0" algn="ctr" rtl="0"/>
            <a:r>
              <a:rPr lang="en-GB" sz="4000" b="1">
                <a:solidFill>
                  <a:srgbClr val="355269"/>
                </a:solidFill>
                <a:latin typeface="Source Sans Pro Black" pitchFamily="2"/>
              </a:rPr>
              <a:t>Other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3FC539-EF70-CE50-3996-6C6C2095C41A}"/>
              </a:ext>
            </a:extLst>
          </p:cNvPr>
          <p:cNvSpPr txBox="1"/>
          <p:nvPr/>
        </p:nvSpPr>
        <p:spPr>
          <a:xfrm>
            <a:off x="214499" y="1304273"/>
            <a:ext cx="7797318" cy="427352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Diagnosis Distribution varies as a function of age – use a cutoff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29A1-3FF6-C9C6-BAF3-D4E2E748C861}"/>
              </a:ext>
            </a:extLst>
          </p:cNvPr>
          <p:cNvSpPr txBox="1"/>
          <p:nvPr/>
        </p:nvSpPr>
        <p:spPr>
          <a:xfrm>
            <a:off x="214499" y="2152293"/>
            <a:ext cx="9499707" cy="427352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Age distribution in the population can be modelled with a skewed normal fit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1A02B-EED0-63F8-9881-DF5BB5B57088}"/>
              </a:ext>
            </a:extLst>
          </p:cNvPr>
          <p:cNvSpPr txBox="1"/>
          <p:nvPr/>
        </p:nvSpPr>
        <p:spPr>
          <a:xfrm>
            <a:off x="240539" y="4260502"/>
            <a:ext cx="5757529" cy="427352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Not all New cases seen need to be followed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7ACBA-E1C9-36B2-02B5-130E58F7ED6C}"/>
              </a:ext>
            </a:extLst>
          </p:cNvPr>
          <p:cNvSpPr txBox="1"/>
          <p:nvPr/>
        </p:nvSpPr>
        <p:spPr>
          <a:xfrm>
            <a:off x="214499" y="3090905"/>
            <a:ext cx="6438869" cy="782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Different staff types will have different capacities.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Same staff type has same capacity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67EE1-D634-B306-A802-D7903162B6D1}"/>
              </a:ext>
            </a:extLst>
          </p:cNvPr>
          <p:cNvSpPr txBox="1"/>
          <p:nvPr/>
        </p:nvSpPr>
        <p:spPr>
          <a:xfrm>
            <a:off x="240539" y="4909656"/>
            <a:ext cx="5707002" cy="427352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All follow up appointment types are the same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90DDA3C-10A5-A07E-4B2B-B5F9599AEF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11680" y="-36000"/>
            <a:ext cx="9000000" cy="990000"/>
          </a:xfrm>
        </p:spPr>
        <p:txBody>
          <a:bodyPr vert="horz" anchor="ctr"/>
          <a:lstStyle/>
          <a:p>
            <a:pPr lvl="0" algn="ctr" rtl="0"/>
            <a:r>
              <a:rPr lang="en-GB" sz="4000" b="1">
                <a:solidFill>
                  <a:srgbClr val="355269"/>
                </a:solidFill>
                <a:latin typeface="Source Sans Pro Black" pitchFamily="2"/>
              </a:rPr>
              <a:t>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083E79-A07E-2F46-80EA-B9FB786D9AF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6840" y="1067299"/>
            <a:ext cx="4686840" cy="36482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3C5BAE-D8BB-650C-BEA9-35B143E0C282}"/>
              </a:ext>
            </a:extLst>
          </p:cNvPr>
          <p:cNvSpPr txBox="1"/>
          <p:nvPr/>
        </p:nvSpPr>
        <p:spPr>
          <a:xfrm>
            <a:off x="4680000" y="1067299"/>
            <a:ext cx="4863117" cy="4328484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Using last 3 years data –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age distribution modelled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 (Including a delay)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GB" sz="2200" b="1" i="0" u="none" strike="noStrike" kern="1200" dirty="0">
              <a:ln>
                <a:noFill/>
              </a:ln>
              <a:solidFill>
                <a:srgbClr val="000000"/>
              </a:solidFill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ADHD/ASD and Complex disorder rates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calculated and hard coded from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last complete referral year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GB" sz="2200" b="1" i="0" u="none" strike="noStrike" kern="1200" dirty="0">
              <a:ln>
                <a:noFill/>
              </a:ln>
              <a:solidFill>
                <a:srgbClr val="000000"/>
              </a:solidFill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Mean annual follow up rates for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diagnosis and follow up estimated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GB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for each condition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900F2E-AEB8-790E-E993-0F6BE532E1F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1003680"/>
            <a:ext cx="5178522" cy="371555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CE4D66-18A9-1169-4AF7-09BAA2E9E8FE}"/>
              </a:ext>
            </a:extLst>
          </p:cNvPr>
          <p:cNvSpPr txBox="1"/>
          <p:nvPr/>
        </p:nvSpPr>
        <p:spPr>
          <a:xfrm>
            <a:off x="4190034" y="103680"/>
            <a:ext cx="4320000" cy="900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4000" b="1" i="0" u="none" strike="noStrike" kern="1200">
                <a:ln>
                  <a:noFill/>
                </a:ln>
                <a:solidFill>
                  <a:srgbClr val="355269"/>
                </a:solidFill>
                <a:latin typeface="Source Sans Pro" pitchFamily="2"/>
                <a:ea typeface="Noto Sans CJK JP:palt" pitchFamily="34"/>
                <a:cs typeface="Noto Sans Regular" pitchFamily="2"/>
              </a:rPr>
              <a:t>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3E3C4-E88A-1A0F-E38C-85555907B269}"/>
              </a:ext>
            </a:extLst>
          </p:cNvPr>
          <p:cNvSpPr txBox="1"/>
          <p:nvPr/>
        </p:nvSpPr>
        <p:spPr>
          <a:xfrm>
            <a:off x="5438758" y="935280"/>
            <a:ext cx="3578040" cy="697319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Python scripting – VS Code 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A6A98-56BB-2B92-BD7B-A0967A1FCFAA}"/>
              </a:ext>
            </a:extLst>
          </p:cNvPr>
          <p:cNvSpPr txBox="1"/>
          <p:nvPr/>
        </p:nvSpPr>
        <p:spPr>
          <a:xfrm>
            <a:off x="5438758" y="1991480"/>
            <a:ext cx="3562056" cy="78200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 dirty="0" err="1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Streamlit</a:t>
            </a: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 library to distribute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as a webpage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39BD6-F497-0E73-F663-876B75CC71C4}"/>
              </a:ext>
            </a:extLst>
          </p:cNvPr>
          <p:cNvSpPr txBox="1"/>
          <p:nvPr/>
        </p:nvSpPr>
        <p:spPr>
          <a:xfrm>
            <a:off x="5438758" y="2969132"/>
            <a:ext cx="4668128" cy="1064128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GB" sz="2200" b="0" i="0" u="none" strike="noStrike" kern="1200" dirty="0" err="1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Github</a:t>
            </a: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-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GB" sz="1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(</a:t>
            </a:r>
            <a:r>
              <a:rPr lang="en-GB" sz="1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  <a:hlinkClick r:id="rId4"/>
              </a:rPr>
              <a:t>https://github.com/SpaceElmo/Community-Paeds-Service-modelling</a:t>
            </a: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F87DC-3E5C-AB76-4905-F3EBF74107CE}"/>
              </a:ext>
            </a:extLst>
          </p:cNvPr>
          <p:cNvSpPr txBox="1"/>
          <p:nvPr/>
        </p:nvSpPr>
        <p:spPr>
          <a:xfrm>
            <a:off x="5438758" y="4130115"/>
            <a:ext cx="3600000" cy="1338480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 dirty="0" err="1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Streamlit</a:t>
            </a: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 Webpage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  <a:hlinkClick r:id="rId5"/>
              </a:rPr>
              <a:t>Comm </a:t>
            </a:r>
            <a:r>
              <a:rPr lang="en-GB" sz="2200" b="0" i="0" u="none" strike="noStrike" kern="1200" dirty="0" err="1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  <a:hlinkClick r:id="rId5"/>
              </a:rPr>
              <a:t>Paeds</a:t>
            </a:r>
            <a:r>
              <a:rPr lang="en-GB" sz="2200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  <a:hlinkClick r:id="rId5"/>
              </a:rPr>
              <a:t>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62D1FB4-A399-DEE5-26E1-96849C62063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0000" y="227520"/>
            <a:ext cx="9000000" cy="714960"/>
          </a:xfrm>
        </p:spPr>
        <p:txBody>
          <a:bodyPr vert="horz" anchor="ctr"/>
          <a:lstStyle/>
          <a:p>
            <a:pPr lvl="0" algn="ctr" rtl="0"/>
            <a:r>
              <a:rPr lang="en-GB" sz="4000" b="1">
                <a:solidFill>
                  <a:srgbClr val="355269"/>
                </a:solidFill>
                <a:latin typeface="Source Sans Pro Black" pitchFamily="2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1F5D1-D946-7A92-FD2F-F3AFFD8E04C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0000" y="826200"/>
            <a:ext cx="5940000" cy="4677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4ADB85-6E86-38E1-BFCC-424D3DF91F2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560" y="249840"/>
            <a:ext cx="5365440" cy="497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4721DB-4C97-3C21-6AED-13D98FC9951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00000" y="547920"/>
            <a:ext cx="4680000" cy="4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F03879-7514-E180-0357-6A3D6ECD87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25440" y="216360"/>
            <a:ext cx="5428080" cy="530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D3FFB45-D218-5F45-F91C-E6226EC0EFC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0000" y="117720"/>
            <a:ext cx="9000000" cy="714960"/>
          </a:xfrm>
        </p:spPr>
        <p:txBody>
          <a:bodyPr vert="horz" anchor="ctr"/>
          <a:lstStyle/>
          <a:p>
            <a:pPr lvl="0" algn="ctr" rtl="0"/>
            <a:r>
              <a:rPr lang="en-GB" sz="4000" b="1">
                <a:solidFill>
                  <a:srgbClr val="355269"/>
                </a:solidFill>
                <a:latin typeface="Source Sans Pro Black" pitchFamily="2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A55C9-5CCE-8C70-F89C-263DA4E507E4}"/>
              </a:ext>
            </a:extLst>
          </p:cNvPr>
          <p:cNvSpPr txBox="1"/>
          <p:nvPr/>
        </p:nvSpPr>
        <p:spPr>
          <a:xfrm>
            <a:off x="228975" y="816746"/>
            <a:ext cx="9116503" cy="5069648"/>
          </a:xfrm>
          <a:prstGeom prst="rect">
            <a:avLst/>
          </a:prstGeom>
          <a:noFill/>
          <a:ln>
            <a:noFill/>
          </a:ln>
        </p:spPr>
        <p:txBody>
          <a:bodyPr vert="horz" wrap="square" lIns="36000" tIns="36000" rIns="36000" bIns="360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The median wait time increases at a linear rate with referral number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endParaRPr lang="en-GB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The number of doctors that the service has, has a greater influence on wait times</a:t>
            </a:r>
            <a:r>
              <a:rPr lang="en-GB" dirty="0">
                <a:latin typeface="Source Sans Pro" pitchFamily="2"/>
                <a:ea typeface="Noto Sans CJK JP:palt" pitchFamily="34"/>
                <a:cs typeface="Noto Sans Regular" pitchFamily="2"/>
              </a:rPr>
              <a:t> </a:t>
            </a: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than the number of nurses although increasing the number of nurses can have an impact in a service with fewer than 2 doctors.</a:t>
            </a:r>
            <a:endParaRPr lang="en-GB" dirty="0"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endParaRPr lang="en-GB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Changing the ratio of new to follow up in each clinic has a large impact on waiting times. Ratio is dependant on Referral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endParaRPr lang="en-GB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Reducing the number of follow ups for ASD patients had the biggest impact on reducing waiting times compared to ADHD and Complex patients.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This model does not take into account clinical triage decisions that may reduce the waiting time for a sub group of patients.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endParaRPr lang="en-GB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GB" b="0" i="0" u="none" strike="noStrike" kern="1200" dirty="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The model does not account for services that do not run a doctor led assessment process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 dirty="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6A35E9C-4F35-2D11-7B79-C286A37E510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640" y="163800"/>
            <a:ext cx="9000000" cy="1429559"/>
          </a:xfrm>
        </p:spPr>
        <p:txBody>
          <a:bodyPr vert="horz" anchor="ctr"/>
          <a:lstStyle/>
          <a:p>
            <a:pPr lvl="0" algn="ctr" rtl="0"/>
            <a:r>
              <a:rPr lang="en-GB" sz="4000" b="1">
                <a:solidFill>
                  <a:srgbClr val="009EDA"/>
                </a:solidFill>
                <a:latin typeface="Source Sans Pro Black" pitchFamily="2"/>
              </a:rPr>
              <a:t>References and Acknowledgement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E20DE-5FDC-64A5-6633-2F4840FD4508}"/>
              </a:ext>
            </a:extLst>
          </p:cNvPr>
          <p:cNvSpPr txBox="1"/>
          <p:nvPr/>
        </p:nvSpPr>
        <p:spPr>
          <a:xfrm>
            <a:off x="776880" y="2019240"/>
            <a:ext cx="7722360" cy="1009799"/>
          </a:xfrm>
          <a:prstGeom prst="rect">
            <a:avLst/>
          </a:prstGeom>
          <a:noFill/>
          <a:ln>
            <a:noFill/>
          </a:ln>
        </p:spPr>
        <p:txBody>
          <a:bodyPr vert="horz" wrap="none" lIns="36000" tIns="36000" rIns="36000" bIns="36000" anchor="ctr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1) Nuffield Trust: Access to services for Autism and ADHD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2200" b="0" i="0" u="none" strike="noStrike" kern="1200">
              <a:ln>
                <a:noFill/>
              </a:ln>
              <a:latin typeface="Source Sans Pro" pitchFamily="2"/>
              <a:ea typeface="Noto Sans CJK JP:palt" pitchFamily="34"/>
              <a:cs typeface="Noto Sans Regular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2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</a:rPr>
              <a:t>2) Lets Do Digital </a:t>
            </a:r>
            <a:r>
              <a:rPr lang="en-GB" sz="2200" b="0" i="0" u="none" strike="noStrike" kern="1200">
                <a:ln>
                  <a:noFill/>
                </a:ln>
                <a:latin typeface="Source Sans Pro" pitchFamily="2"/>
                <a:ea typeface="Noto Sans CJK JP:palt" pitchFamily="34"/>
                <a:cs typeface="Noto Sans Regular" pitchFamily="2"/>
                <a:hlinkClick r:id="rId3"/>
              </a:rPr>
              <a:t>https://letsdodigital.org/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id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Vivid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Vivid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432</Words>
  <Application>Microsoft Office PowerPoint</Application>
  <PresentationFormat>Custom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Arial</vt:lpstr>
      <vt:lpstr>Noto Sans Regular</vt:lpstr>
      <vt:lpstr>OpenSymbol</vt:lpstr>
      <vt:lpstr>Source Sans Pro</vt:lpstr>
      <vt:lpstr>Source Sans Pro Black</vt:lpstr>
      <vt:lpstr>Source Sans Pro Light</vt:lpstr>
      <vt:lpstr>StarSymbol</vt:lpstr>
      <vt:lpstr>Vivid</vt:lpstr>
      <vt:lpstr>Vivid1</vt:lpstr>
      <vt:lpstr>Vivid2</vt:lpstr>
      <vt:lpstr>Numerical Simulation of a Community  Paediatric Service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Vivid</dc:title>
  <dc:creator>Sharma, Raman</dc:creator>
  <cp:lastModifiedBy>Sharma, Raman</cp:lastModifiedBy>
  <cp:revision>11</cp:revision>
  <dcterms:created xsi:type="dcterms:W3CDTF">2025-09-21T14:53:12Z</dcterms:created>
  <dcterms:modified xsi:type="dcterms:W3CDTF">2025-09-25T15:25:56Z</dcterms:modified>
</cp:coreProperties>
</file>